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1" r:id="rId6"/>
    <p:sldId id="262" r:id="rId7"/>
    <p:sldId id="265" r:id="rId8"/>
    <p:sldId id="263" r:id="rId9"/>
    <p:sldId id="266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395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Artificial Intelligence CCE 3 &amp; 4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5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5C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Topic: K Nearest Neighbours (KNN)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384918"/>
              </p:ext>
            </p:extLst>
          </p:nvPr>
        </p:nvGraphicFramePr>
        <p:xfrm>
          <a:off x="1965960" y="2834640"/>
          <a:ext cx="5212080" cy="18288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Sr.No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Roll No.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Harsh Sonone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Yuvraj </a:t>
                      </a:r>
                      <a:r>
                        <a:rPr lang="en-US" sz="1400" dirty="0" err="1">
                          <a:latin typeface="Arial" charset="0"/>
                          <a:ea typeface="Arial" charset="0"/>
                          <a:cs typeface="Arial" charset="0"/>
                        </a:rPr>
                        <a:t>Suryawanshi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latin typeface="Arial" charset="0"/>
                          <a:ea typeface="Arial" charset="0"/>
                          <a:cs typeface="Arial" charset="0"/>
                        </a:rPr>
                        <a:t>Vedant Yadav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108717D-DFB8-3B7C-B1E8-9706EAF9E7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78" y="137160"/>
            <a:ext cx="8277444" cy="12691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8046720" cy="1508760"/>
          </a:xfrm>
          <a:prstGeom prst="roundRect">
            <a:avLst>
              <a:gd name="adj" fmla="val 9091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731520" y="457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Placement Eligibility: Classify students as Eligible / Not Eligible for placement using CGPA, attendance, backlogs and aptitude score.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2286000"/>
          </a:xfrm>
          <a:prstGeom prst="roundRect">
            <a:avLst>
              <a:gd name="adj" fmla="val 6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Variables (Features):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260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CGPA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%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Aptitude Score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03520" y="2514600"/>
            <a:ext cx="3291840" cy="1645920"/>
          </a:xfrm>
          <a:prstGeom prst="roundRect">
            <a:avLst>
              <a:gd name="adj" fmla="val 8333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394960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Dependent Variable (Class Label):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32461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Eligibility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/ Not Eligible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3337560"/>
            <a:ext cx="91440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303520" y="4434840"/>
            <a:ext cx="3291840" cy="365760"/>
          </a:xfrm>
          <a:prstGeom prst="roundRect">
            <a:avLst>
              <a:gd name="adj" fmla="val 20000"/>
            </a:avLst>
          </a:prstGeom>
          <a:solidFill>
            <a:srgbClr val="1B22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303520" y="4434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 ·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KNN?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051560"/>
            <a:ext cx="7680960" cy="960120"/>
          </a:xfrm>
          <a:prstGeom prst="roundRect">
            <a:avLst>
              <a:gd name="adj" fmla="val 1428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14400" y="109728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Neighbours (KNN) is a supervised learning algorithm that classifies a new data point by finding the K closest training points and taking a majority vote of their classes.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labelled examples such as past students and their results.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Lazy Learner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phase. It stores the data and works at prediction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40280"/>
            <a:ext cx="2377440" cy="1188720"/>
          </a:xfrm>
          <a:prstGeom prst="roundRect">
            <a:avLst>
              <a:gd name="adj" fmla="val 11538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126480" y="2286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Distance-Based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6060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 students lie close together in the feature space.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611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88720" y="3931920"/>
            <a:ext cx="676656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1188720" y="393192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d(p, q) = √( (p₁−q₁)² + (p₂−q₂)² + … + (pₙ−qₙ)² 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number of neighbours considered (here K = 3). An odd K avoids ties.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74320"/>
            <a:ext cx="64008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1371600" y="274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of the KNN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68580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labelled student data (CGPA, attendance, backlogs, aptitude, status).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the features and choose the value of 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68580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the distance from the new student to every student in the data.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09728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109728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the distances and pick the K nearest neighbours.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237744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846320" y="23774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the class labels (Eligible / Not Eligible) among the K neighbours.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3886200" cy="1005840"/>
          </a:xfrm>
          <a:prstGeom prst="roundRect">
            <a:avLst>
              <a:gd name="adj" fmla="val 1363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846320" y="365760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6: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the majority class as the predicted placement status.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Explaining with Example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4300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AC59ED-E528-0CF6-E079-EC788831A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229" y="822960"/>
            <a:ext cx="3701142" cy="42902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510F0E-D00F-1978-8F83-8051B7741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06" y="867227"/>
            <a:ext cx="3800537" cy="42055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286000" y="26495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Code &amp; Output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05840"/>
            <a:ext cx="521208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 Placement Eligibility using KNN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math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Counter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([CGPA, Attendance, Backlogs, Aptitude],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([8.5, 90, 0, 80], "Eligible"), ([7.8, 85, 0, 72],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([6.2, 65, 3, 45], "Not Eligible"), ([9.0, 95, 0, 88],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([5.8, 60, 4, 40], "Not Eligible"), ([7.2, 78, 1, 65],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([6.5, 70, 2, 50], "Not Eligible"), ([8.0, 88, 0, 75], "Eligible"),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([5.5, 55, 5, 35], "Not Eligible"), ([6.8, 72, 2, 55], "Not Eligible"),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list(zip(*[x for x, y in data]))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 = [min(c) for c in cols], [max(c) for c in cols]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scale(x):  # Min-Max normalization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[(v - l) / (h - l) for v, l, h in zip(x, lo, hi)]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distance(a, b):  # Euclidean distance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math.sqrt(sum((p - q) ** 2 for p, q in zip(a, b)))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knn(new, k=3):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= scale(new)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sorted((distance(scale(x), new), y) for x, y in data)    votes = Counter(y for _, y in dist[:k])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dist[:k], votes.most_common(1)[0][0]</a:t>
            </a:r>
            <a:endParaRPr lang="en-US" sz="650" dirty="0"/>
          </a:p>
          <a:p>
            <a:pPr marL="0" indent="0">
              <a:buNone/>
            </a:pP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= float(input("Enter CGPA: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 = float(input("Enter attendance %: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 = int(input("Enter number of backlogs: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apt = float(input("Enter aptitude score: "))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nearest, result = knn([cgpa, att, back, apt],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print("K =", k)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d, label in nearest: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print("Distance:", round(d, 3), "-&gt;", label)</a:t>
            </a:r>
            <a:endParaRPr lang="en-US" sz="650" dirty="0"/>
          </a:p>
          <a:p>
            <a:pPr marL="0" indent="0">
              <a:buNone/>
            </a:pPr>
            <a:r>
              <a:rPr lang="en-US" sz="6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print("Placement Status:", result)</a:t>
            </a:r>
            <a:endParaRPr lang="en-US" sz="6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278004-1A3C-46AF-5F1E-DD5002994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58" y="947420"/>
            <a:ext cx="2998510" cy="39217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484463-BA35-B9C1-83D3-4BA2D0663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1" y="905038"/>
            <a:ext cx="3055256" cy="40361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1E8095-54A5-6F8E-AF1B-0E0315A80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828" y="905038"/>
            <a:ext cx="2446232" cy="8382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1F3BD3D6-25FF-02BA-0B9C-DEEDF9F18F3F}"/>
              </a:ext>
            </a:extLst>
          </p:cNvPr>
          <p:cNvSpPr/>
          <p:nvPr/>
        </p:nvSpPr>
        <p:spPr>
          <a:xfrm>
            <a:off x="2735942" y="508000"/>
            <a:ext cx="3933371" cy="515257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727C4A-8711-F930-1351-FB5A555CF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86" y="1329277"/>
            <a:ext cx="3802742" cy="33062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F4BC62-7143-38EC-981B-7C91E46CB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373" y="1329277"/>
            <a:ext cx="4223655" cy="3242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61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KNN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&amp; Placement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student placement eligibility, performance and dropout risk from academic records.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4846320" y="10058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 patients as healthy or at-risk (e.g. diabetes, heart disease) from medical measurements.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315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Systems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movies, products or music by finding users with similar tastes.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2286000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846320" y="228600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Banking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scoring, loan approval and fraud detection by comparing with similar past cases.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463040" y="3566160"/>
            <a:ext cx="6217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1645920" y="3566160"/>
            <a:ext cx="5852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&amp; Pattern Recognition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Handwritten digit recognition, face recognition and document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32E7C0EE-F2A0-2E04-30CC-41837CCAE48B}"/>
              </a:ext>
            </a:extLst>
          </p:cNvPr>
          <p:cNvSpPr/>
          <p:nvPr/>
        </p:nvSpPr>
        <p:spPr>
          <a:xfrm>
            <a:off x="2735942" y="420916"/>
            <a:ext cx="3933371" cy="515257"/>
          </a:xfrm>
          <a:prstGeom prst="flowChartTerminator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Limitations of KNN</a:t>
            </a:r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B3727342-D2B4-28DE-3294-097A2CBB0A3F}"/>
              </a:ext>
            </a:extLst>
          </p:cNvPr>
          <p:cNvSpPr/>
          <p:nvPr/>
        </p:nvSpPr>
        <p:spPr>
          <a:xfrm>
            <a:off x="548640" y="119452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4B36222E-D562-8EB2-3CD8-37DFEABAA691}"/>
              </a:ext>
            </a:extLst>
          </p:cNvPr>
          <p:cNvSpPr txBox="1"/>
          <p:nvPr/>
        </p:nvSpPr>
        <p:spPr>
          <a:xfrm>
            <a:off x="731520" y="119452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Slow for large datasets</a:t>
            </a:r>
          </a:p>
          <a:p>
            <a:pPr algn="ctr"/>
            <a:r>
              <a:rPr lang="en-US" sz="1400" dirty="0"/>
              <a:t>KNN calculates distances with many data points, making prediction time-consuming.</a:t>
            </a:r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9A6DCCD7-70C9-576E-7682-68521B603636}"/>
              </a:ext>
            </a:extLst>
          </p:cNvPr>
          <p:cNvSpPr/>
          <p:nvPr/>
        </p:nvSpPr>
        <p:spPr>
          <a:xfrm>
            <a:off x="4663440" y="119452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CBADF24C-6919-E7B4-BBA9-285A82FBC654}"/>
              </a:ext>
            </a:extLst>
          </p:cNvPr>
          <p:cNvSpPr txBox="1"/>
          <p:nvPr/>
        </p:nvSpPr>
        <p:spPr>
          <a:xfrm>
            <a:off x="4846320" y="119452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/>
              <a:t>High memory requirement</a:t>
            </a:r>
          </a:p>
          <a:p>
            <a:pPr algn="ctr"/>
            <a:r>
              <a:rPr lang="en-US" sz="1400" dirty="0"/>
              <a:t>KNN stores the entire training dataset for making predictions.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DEE14ABA-58A7-2280-A1C8-C03AD6153EF6}"/>
              </a:ext>
            </a:extLst>
          </p:cNvPr>
          <p:cNvSpPr/>
          <p:nvPr/>
        </p:nvSpPr>
        <p:spPr>
          <a:xfrm>
            <a:off x="548640" y="247468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56D53599-E13E-FBE6-31A3-D7DBF09C87B7}"/>
              </a:ext>
            </a:extLst>
          </p:cNvPr>
          <p:cNvSpPr txBox="1"/>
          <p:nvPr/>
        </p:nvSpPr>
        <p:spPr>
          <a:xfrm>
            <a:off x="731520" y="247468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b="1" dirty="0"/>
              <a:t>Sensitive to feature scaling  </a:t>
            </a:r>
          </a:p>
          <a:p>
            <a:pPr lvl="0"/>
            <a:r>
              <a:rPr lang="en-US" sz="1400" dirty="0"/>
              <a:t>Features with larger values can have more influence on distance calculations. </a:t>
            </a: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DF44380F-14FA-CA29-C676-482309C01918}"/>
              </a:ext>
            </a:extLst>
          </p:cNvPr>
          <p:cNvSpPr/>
          <p:nvPr/>
        </p:nvSpPr>
        <p:spPr>
          <a:xfrm>
            <a:off x="4663440" y="2474682"/>
            <a:ext cx="3931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6097453-B5F4-AE5C-538D-2E6AFE826FB0}"/>
              </a:ext>
            </a:extLst>
          </p:cNvPr>
          <p:cNvSpPr txBox="1"/>
          <p:nvPr/>
        </p:nvSpPr>
        <p:spPr>
          <a:xfrm>
            <a:off x="4846320" y="2474682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sz="2000" b="1" dirty="0"/>
              <a:t>Choice of K affects accuracy</a:t>
            </a:r>
            <a:r>
              <a:rPr lang="en-US" sz="1600" dirty="0"/>
              <a:t>  </a:t>
            </a:r>
          </a:p>
          <a:p>
            <a:pPr lvl="0"/>
            <a:r>
              <a:rPr lang="en-US" sz="1400" dirty="0"/>
              <a:t>A suitable value of K is needed because too small or too large K can reduce accuracy. </a:t>
            </a:r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ACEC8C33-C3F7-33A4-77DF-A64C3675A004}"/>
              </a:ext>
            </a:extLst>
          </p:cNvPr>
          <p:cNvSpPr/>
          <p:nvPr/>
        </p:nvSpPr>
        <p:spPr>
          <a:xfrm>
            <a:off x="1463040" y="3754842"/>
            <a:ext cx="6217920" cy="1143000"/>
          </a:xfrm>
          <a:prstGeom prst="roundRect">
            <a:avLst>
              <a:gd name="adj" fmla="val 12000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B078BE7-E5D5-7399-E0DE-49922F1CADA6}"/>
              </a:ext>
            </a:extLst>
          </p:cNvPr>
          <p:cNvSpPr txBox="1"/>
          <p:nvPr/>
        </p:nvSpPr>
        <p:spPr>
          <a:xfrm>
            <a:off x="1542867" y="3783147"/>
            <a:ext cx="6075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/>
            <a:r>
              <a:rPr lang="en-US" b="1" dirty="0"/>
              <a:t>Sensitive to noise and irrelevant features </a:t>
            </a:r>
          </a:p>
          <a:p>
            <a:pPr lvl="0"/>
            <a:r>
              <a:rPr lang="en-US" sz="1400" dirty="0"/>
              <a:t>Unnecessary or noisy features can affect distances and lead to incorrect predictions</a:t>
            </a:r>
            <a:r>
              <a:rPr lang="en-US" sz="1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88256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74320"/>
            <a:ext cx="5120640" cy="54864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2011680" y="274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120640" cy="3566160"/>
          </a:xfrm>
          <a:prstGeom prst="roundRect">
            <a:avLst>
              <a:gd name="adj" fmla="val 3846"/>
            </a:avLst>
          </a:prstGeom>
          <a:solidFill>
            <a:srgbClr val="C9D1DC"/>
          </a:solidFill>
          <a:ln w="1905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1887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classifies a new student by the majority class of its K nearest neighbours.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simple and intuitive, with no training phase.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scaling and the choice of K strongly affect accuracy.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slows down on large datasets because it measures distance to every record.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example, the student with CGPA 7.9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predicted Eligible </a:t>
            </a: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placement.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852160" y="182880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7C5C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1009</Words>
  <Application>Microsoft Office PowerPoint</Application>
  <PresentationFormat>On-screen Show (16:9)</PresentationFormat>
  <Paragraphs>122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Yudhishthir Suryawanshi</cp:lastModifiedBy>
  <cp:revision>6</cp:revision>
  <dcterms:created xsi:type="dcterms:W3CDTF">2026-09-29T19:47:43Z</dcterms:created>
  <dcterms:modified xsi:type="dcterms:W3CDTF">2026-09-30T03:55:07Z</dcterms:modified>
</cp:coreProperties>
</file>